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315d36a-1d81-f8e4-d969-767257716751}">
          <p14:sldIdLst>
            <p14:sldId id="256"/>
            <p14:sldId id="257"/>
            <p14:sldId id="258"/>
            <p14:sldId id="259"/>
          </p14:sldIdLst>
        </p14:section>
        <p14:section name="Proposed System" id="{af532549-0703-3f02-9ab7-5d6467361880}">
          <p14:sldIdLst>
            <p14:sldId id="260"/>
            <p14:sldId id="261"/>
          </p14:sldIdLst>
        </p14:section>
        <p14:section name="Design" id="{d70d0b34-729b-cce8-92b9-c0023bd23d95}">
          <p14:sldIdLst>
            <p14:sldId id="262"/>
            <p14:sldId id="263"/>
          </p14:sldIdLst>
        </p14:section>
        <p14:section name="Features" id="{f3eb6482-9c6d-4c03-b0d8-bb938090dde5}">
          <p14:sldIdLst>
            <p14:sldId id="264"/>
            <p14:sldId id="265"/>
          </p14:sldIdLst>
        </p14:section>
        <p14:section name="Plan" id="{769924d6-ddef-a5c0-15a4-090f2c4c3f6c}">
          <p14:sldIdLst>
            <p14:sldId id="266"/>
            <p14:sldId id="267"/>
          </p14:sldIdLst>
        </p14:section>
        <p14:section name="Wrap-up" id="{646496bb-a60c-c895-45b6-68d345781c10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5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A5A"/>
                </a:solidFill>
                <a:latin typeface="+mn-lt"/>
              </a:rPr>
              <a:t>Project score weights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2A5A"/>
              </a:solidFill>
              <a:effectLst/>
            </c:spPr>
          </c:dPt>
          <c:dPt>
            <c:idx val="1"/>
            <c:bubble3D val="0"/>
            <c:spPr>
              <a:solidFill>
                <a:srgbClr val="0E9AA7"/>
              </a:solidFill>
              <a:effectLst/>
            </c:spPr>
          </c:dPt>
          <c:dPt>
            <c:idx val="2"/>
            <c:bubble3D val="0"/>
            <c:spPr>
              <a:solidFill>
                <a:srgbClr val="2B3A7A"/>
              </a:solidFill>
              <a:effectLst/>
            </c:spPr>
          </c:dPt>
          <c:dPt>
            <c:idx val="3"/>
            <c:bubble3D val="0"/>
            <c:spPr>
              <a:solidFill>
                <a:srgbClr val="F2A541"/>
              </a:solidFill>
              <a:effectLst/>
            </c:spPr>
          </c:dPt>
          <c:dPt>
            <c:idx val="4"/>
            <c:bubble3D val="0"/>
            <c:spPr>
              <a:solidFill>
                <a:srgbClr val="7A8AA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Supervisor rating</c:v>
                </c:pt>
                <c:pt idx="1">
                  <c:v>Community rating</c:v>
                </c:pt>
                <c:pt idx="2">
                  <c:v>Completion</c:v>
                </c:pt>
                <c:pt idx="3">
                  <c:v>Likes</c:v>
                </c:pt>
                <c:pt idx="4">
                  <c:v>Views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B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ProjectHub: a role-based platform for students, supervisors and admins built on the MERN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roles and ten collections. Scope is intentionally controlled.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problems motivate a single organised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 cover authentication, all three roles, ranking and notifications.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role has its own dashboard and permissions.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builds and submits, supervisor reviews, admin moderates. Approved projects are published to Explore and rankings.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path: React, Axios, Express with JWT and role middleware, Mongoose, MongoDB Atlas.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ten collections; the five main ones are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feature modules across the three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 = 30% supervisor, 20% community, 20% completion, 15% likes, 15% views. Calculated only on the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4 gives the first full vertical slice; week 9 is feature-complete; week 10 is testing, deployment and documentation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Authorization tests: student to admin API fails, supervisor to admin API fails, admin to admin API succeeds.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future scope and 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5943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circle 1"/>
          <p:cNvSpPr/>
          <p:nvPr/>
        </p:nvSpPr>
        <p:spPr>
          <a:xfrm>
            <a:off x="6766560" y="-822960"/>
            <a:ext cx="3474720" cy="34747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Deco circle 2"/>
          <p:cNvSpPr/>
          <p:nvPr/>
        </p:nvSpPr>
        <p:spPr>
          <a:xfrm>
            <a:off x="7772400" y="1737360"/>
            <a:ext cx="2011680" cy="2011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PROJECT-I  |  PROJECT PRESENTATION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463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ProjectHub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Collaborative Project Development, Review &amp; Showcase Platform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Built with the MERN stack  |  Student - Supervisor - Admin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9476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Prince (Team Leader)  -  2401301022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Nishant  -  2401301149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Pushp  -  2401301143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B.Tech CSE, Geeta University  |  Section 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ProjectHub is a full-stack web platform where students build and manage projects, supervisors review them, and admins manage the platform.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It combines a project showcase, lightweight project management and a supervisor review system, without trying to be GitHub or Jira.</a:t>
            </a:r>
            <a:endParaRPr lang="en-US" sz="1800" dirty="0"/>
          </a:p>
        </p:txBody>
      </p:sp>
      <p:sp>
        <p:nvSpPr>
          <p:cNvPr id="4" name="Stat card 1"/>
          <p:cNvSpPr/>
          <p:nvPr/>
        </p:nvSpPr>
        <p:spPr>
          <a:xfrm>
            <a:off x="5669280" y="123444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852160" y="1234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234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User roles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5669280" y="242316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852160" y="24231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4231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Database collections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5669280" y="361188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36118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MERN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6118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Core stack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Problem and Need</a:t>
            </a:r>
            <a:endParaRPr lang="en-US" sz="30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Problem badge 1"/>
          <p:cNvSpPr txBox="1"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63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Scattered tools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Projects tracked across chats, sheets and emails</a:t>
            </a:r>
            <a:endParaRPr lang="en-US" sz="1400" dirty="0"/>
          </a:p>
        </p:txBody>
      </p:sp>
      <p:sp>
        <p:nvSpPr>
          <p:cNvPr id="7" name="Problem card 2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8" name="Problem badge 2"/>
          <p:cNvSpPr txBox="1"/>
          <p:nvPr/>
        </p:nvSpPr>
        <p:spPr>
          <a:xfrm>
            <a:off x="489204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532120" y="1463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progress visibility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9202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Supervisors cannot easily see each student's status</a:t>
            </a:r>
            <a:endParaRPr lang="en-US" sz="1400" dirty="0"/>
          </a:p>
        </p:txBody>
      </p:sp>
      <p:sp>
        <p:nvSpPr>
          <p:cNvPr id="11" name="Problem card 3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2" name="Problem badge 3"/>
          <p:cNvSpPr txBox="1"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200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Subjective evaluation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6576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Feedback and scores are not structured or recorded</a:t>
            </a:r>
            <a:endParaRPr lang="en-US" sz="1400" dirty="0"/>
          </a:p>
        </p:txBody>
      </p:sp>
      <p:sp>
        <p:nvSpPr>
          <p:cNvPr id="15" name="Problem card 4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6" name="Problem badge 4"/>
          <p:cNvSpPr txBox="1"/>
          <p:nvPr/>
        </p:nvSpPr>
        <p:spPr>
          <a:xfrm>
            <a:off x="489204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3200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Work gets lost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36576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Finished projects are not preserved or showcased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Objectives</a:t>
            </a:r>
            <a:endParaRPr lang="en-US" sz="3000" dirty="0"/>
          </a:p>
        </p:txBody>
      </p:sp>
      <p:sp>
        <p:nvSpPr>
          <p:cNvPr id="3" name="Objective card 1"/>
          <p:cNvSpPr/>
          <p:nvPr/>
        </p:nvSpPr>
        <p:spPr>
          <a:xfrm>
            <a:off x="457200" y="1280160"/>
            <a:ext cx="40233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" name="Objective badge 1"/>
          <p:cNvSpPr txBox="1"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280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Secure JWT login with role-based redirect</a:t>
            </a:r>
            <a:endParaRPr lang="en-US" sz="1400" dirty="0"/>
          </a:p>
        </p:txBody>
      </p:sp>
      <p:sp>
        <p:nvSpPr>
          <p:cNvPr id="6" name="Objective card 2"/>
          <p:cNvSpPr/>
          <p:nvPr/>
        </p:nvSpPr>
        <p:spPr>
          <a:xfrm>
            <a:off x="4663440" y="1280160"/>
            <a:ext cx="40233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7" name="Objective badge 2"/>
          <p:cNvSpPr txBox="1"/>
          <p:nvPr/>
        </p:nvSpPr>
        <p:spPr>
          <a:xfrm>
            <a:off x="4846320" y="1463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280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Student project, team and task management</a:t>
            </a:r>
            <a:endParaRPr lang="en-US" sz="1400" dirty="0"/>
          </a:p>
        </p:txBody>
      </p:sp>
      <p:sp>
        <p:nvSpPr>
          <p:cNvPr id="9" name="Objective card 3"/>
          <p:cNvSpPr/>
          <p:nvPr/>
        </p:nvSpPr>
        <p:spPr>
          <a:xfrm>
            <a:off x="457200" y="2377440"/>
            <a:ext cx="40233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0" name="Objective badge 3"/>
          <p:cNvSpPr txBox="1"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77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Supervisor review, scoring and feedback</a:t>
            </a:r>
            <a:endParaRPr lang="en-US" sz="1400" dirty="0"/>
          </a:p>
        </p:txBody>
      </p:sp>
      <p:sp>
        <p:nvSpPr>
          <p:cNvPr id="12" name="Objective card 4"/>
          <p:cNvSpPr/>
          <p:nvPr/>
        </p:nvSpPr>
        <p:spPr>
          <a:xfrm>
            <a:off x="4663440" y="2377440"/>
            <a:ext cx="40233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3" name="Objective badge 4"/>
          <p:cNvSpPr txBox="1"/>
          <p:nvPr/>
        </p:nvSpPr>
        <p:spPr>
          <a:xfrm>
            <a:off x="4846320" y="2560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377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Admin user and project moderation</a:t>
            </a:r>
            <a:endParaRPr lang="en-US" sz="1400" dirty="0"/>
          </a:p>
        </p:txBody>
      </p:sp>
      <p:sp>
        <p:nvSpPr>
          <p:cNvPr id="15" name="Objective card 5"/>
          <p:cNvSpPr/>
          <p:nvPr/>
        </p:nvSpPr>
        <p:spPr>
          <a:xfrm>
            <a:off x="457200" y="3474720"/>
            <a:ext cx="40233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6" name="Objective badge 5"/>
          <p:cNvSpPr txBox="1"/>
          <p:nvPr/>
        </p:nvSpPr>
        <p:spPr>
          <a:xfrm>
            <a:off x="640080" y="3657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4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Fair rankings calculated on the backend</a:t>
            </a:r>
            <a:endParaRPr lang="en-US" sz="1400" dirty="0"/>
          </a:p>
        </p:txBody>
      </p:sp>
      <p:sp>
        <p:nvSpPr>
          <p:cNvPr id="18" name="Objective card 6"/>
          <p:cNvSpPr/>
          <p:nvPr/>
        </p:nvSpPr>
        <p:spPr>
          <a:xfrm>
            <a:off x="4663440" y="3474720"/>
            <a:ext cx="40233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9" name="Objective badge 6"/>
          <p:cNvSpPr txBox="1"/>
          <p:nvPr/>
        </p:nvSpPr>
        <p:spPr>
          <a:xfrm>
            <a:off x="4846320" y="3657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3474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Notifications and role-wise analytics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Proposed System: Three User Roles</a:t>
            </a:r>
            <a:endParaRPr lang="en-US" sz="3000" dirty="0"/>
          </a:p>
        </p:txBody>
      </p:sp>
      <p:sp>
        <p:nvSpPr>
          <p:cNvPr id="3" name="Role card Student"/>
          <p:cNvSpPr/>
          <p:nvPr/>
        </p:nvSpPr>
        <p:spPr>
          <a:xfrm>
            <a:off x="457200" y="1188720"/>
            <a:ext cx="2651760" cy="33832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4" name="Role badge Student"/>
          <p:cNvSpPr txBox="1"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Student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19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Builds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8600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Create projects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Manage tasks and team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Track progress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Submit for review</a:t>
            </a:r>
            <a:endParaRPr lang="en-US" sz="1600" dirty="0"/>
          </a:p>
        </p:txBody>
      </p:sp>
      <p:sp>
        <p:nvSpPr>
          <p:cNvPr id="8" name="Role card Supervisor"/>
          <p:cNvSpPr/>
          <p:nvPr/>
        </p:nvSpPr>
        <p:spPr>
          <a:xfrm>
            <a:off x="3291840" y="1188720"/>
            <a:ext cx="2651760" cy="33832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9" name="Role badge Supervisor"/>
          <p:cNvSpPr txBox="1"/>
          <p:nvPr/>
        </p:nvSpPr>
        <p:spPr>
          <a:xfrm>
            <a:off x="3520440" y="1371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SV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Supervisor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719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Reviews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28600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Track assigned students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 projects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Score and give feedback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Approve or request changes</a:t>
            </a:r>
            <a:endParaRPr lang="en-US" sz="1600" dirty="0"/>
          </a:p>
        </p:txBody>
      </p:sp>
      <p:sp>
        <p:nvSpPr>
          <p:cNvPr id="13" name="Role card Admin"/>
          <p:cNvSpPr/>
          <p:nvPr/>
        </p:nvSpPr>
        <p:spPr>
          <a:xfrm>
            <a:off x="6126480" y="1188720"/>
            <a:ext cx="2651760" cy="33832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14" name="Role badge Admin"/>
          <p:cNvSpPr txBox="1"/>
          <p:nvPr/>
        </p:nvSpPr>
        <p:spPr>
          <a:xfrm>
            <a:off x="6355080" y="13716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Admin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1719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Manages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28600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Manage users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Moderate projects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Handle reports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View analytics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User Workflows</a:t>
            </a:r>
            <a:endParaRPr lang="en-US" sz="3000" dirty="0"/>
          </a:p>
        </p:txBody>
      </p:sp>
      <p:sp>
        <p:nvSpPr>
          <p:cNvPr id="3" name="Flow label Student"/>
          <p:cNvSpPr txBox="1"/>
          <p:nvPr/>
        </p:nvSpPr>
        <p:spPr>
          <a:xfrm>
            <a:off x="457200" y="1234440"/>
            <a:ext cx="123444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Student</a:t>
            </a:r>
            <a:endParaRPr lang="en-US" sz="1400" dirty="0"/>
          </a:p>
        </p:txBody>
      </p:sp>
      <p:sp>
        <p:nvSpPr>
          <p:cNvPr id="4" name="Flow Student 1"/>
          <p:cNvSpPr txBox="1"/>
          <p:nvPr/>
        </p:nvSpPr>
        <p:spPr>
          <a:xfrm>
            <a:off x="1920240" y="123444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Register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852928" y="1691640"/>
            <a:ext cx="19202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Flow Student 2"/>
          <p:cNvSpPr txBox="1"/>
          <p:nvPr/>
        </p:nvSpPr>
        <p:spPr>
          <a:xfrm>
            <a:off x="3063240" y="123444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Complete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Profile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95928" y="1691640"/>
            <a:ext cx="19202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Flow Student 3"/>
          <p:cNvSpPr txBox="1"/>
          <p:nvPr/>
        </p:nvSpPr>
        <p:spPr>
          <a:xfrm>
            <a:off x="4206240" y="123444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Create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Project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38928" y="1691640"/>
            <a:ext cx="19202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Flow Student 4"/>
          <p:cNvSpPr txBox="1"/>
          <p:nvPr/>
        </p:nvSpPr>
        <p:spPr>
          <a:xfrm>
            <a:off x="5349240" y="123444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Manage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Tasks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81928" y="1691640"/>
            <a:ext cx="19202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Flow Student 5"/>
          <p:cNvSpPr txBox="1"/>
          <p:nvPr/>
        </p:nvSpPr>
        <p:spPr>
          <a:xfrm>
            <a:off x="6492240" y="123444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Submit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Review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24928" y="1691640"/>
            <a:ext cx="19202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Flow Student 6"/>
          <p:cNvSpPr txBox="1"/>
          <p:nvPr/>
        </p:nvSpPr>
        <p:spPr>
          <a:xfrm>
            <a:off x="7635240" y="123444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Published</a:t>
            </a:r>
            <a:endParaRPr lang="en-US" sz="1200" dirty="0"/>
          </a:p>
        </p:txBody>
      </p:sp>
      <p:sp>
        <p:nvSpPr>
          <p:cNvPr id="15" name="Flow label Supervisor"/>
          <p:cNvSpPr txBox="1"/>
          <p:nvPr/>
        </p:nvSpPr>
        <p:spPr>
          <a:xfrm>
            <a:off x="457200" y="2377440"/>
            <a:ext cx="123444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16" name="Flow Supervisor 1"/>
          <p:cNvSpPr txBox="1"/>
          <p:nvPr/>
        </p:nvSpPr>
        <p:spPr>
          <a:xfrm>
            <a:off x="1920240" y="237744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Login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52928" y="2834640"/>
            <a:ext cx="19202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Flow Supervisor 2"/>
          <p:cNvSpPr txBox="1"/>
          <p:nvPr/>
        </p:nvSpPr>
        <p:spPr>
          <a:xfrm>
            <a:off x="3063240" y="237744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View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Students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95928" y="2834640"/>
            <a:ext cx="19202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Flow Supervisor 3"/>
          <p:cNvSpPr txBox="1"/>
          <p:nvPr/>
        </p:nvSpPr>
        <p:spPr>
          <a:xfrm>
            <a:off x="4206240" y="237744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Review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Project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38928" y="2834640"/>
            <a:ext cx="19202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Flow Supervisor 4"/>
          <p:cNvSpPr txBox="1"/>
          <p:nvPr/>
        </p:nvSpPr>
        <p:spPr>
          <a:xfrm>
            <a:off x="5349240" y="237744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Score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Feedback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81928" y="2834640"/>
            <a:ext cx="19202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Flow Supervisor 5"/>
          <p:cNvSpPr txBox="1"/>
          <p:nvPr/>
        </p:nvSpPr>
        <p:spPr>
          <a:xfrm>
            <a:off x="6492240" y="237744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Approve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Changes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24928" y="2834640"/>
            <a:ext cx="19202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Flow Supervisor 6"/>
          <p:cNvSpPr txBox="1"/>
          <p:nvPr/>
        </p:nvSpPr>
        <p:spPr>
          <a:xfrm>
            <a:off x="7635240" y="237744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Student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Notified</a:t>
            </a:r>
            <a:endParaRPr lang="en-US" sz="1200" dirty="0"/>
          </a:p>
        </p:txBody>
      </p:sp>
      <p:sp>
        <p:nvSpPr>
          <p:cNvPr id="27" name="Flow label Admin"/>
          <p:cNvSpPr txBox="1"/>
          <p:nvPr/>
        </p:nvSpPr>
        <p:spPr>
          <a:xfrm>
            <a:off x="457200" y="3520440"/>
            <a:ext cx="1234440" cy="91440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Admin</a:t>
            </a:r>
            <a:endParaRPr lang="en-US" sz="1400" dirty="0"/>
          </a:p>
        </p:txBody>
      </p:sp>
      <p:sp>
        <p:nvSpPr>
          <p:cNvPr id="28" name="Flow Admin 1"/>
          <p:cNvSpPr txBox="1"/>
          <p:nvPr/>
        </p:nvSpPr>
        <p:spPr>
          <a:xfrm>
            <a:off x="1920240" y="352044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Login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52928" y="3977640"/>
            <a:ext cx="19202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Flow Admin 2"/>
          <p:cNvSpPr txBox="1"/>
          <p:nvPr/>
        </p:nvSpPr>
        <p:spPr>
          <a:xfrm>
            <a:off x="3063240" y="352044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Admin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Dashboard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95928" y="3977640"/>
            <a:ext cx="19202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Flow Admin 3"/>
          <p:cNvSpPr txBox="1"/>
          <p:nvPr/>
        </p:nvSpPr>
        <p:spPr>
          <a:xfrm>
            <a:off x="4206240" y="352044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Users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Projects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138928" y="3977640"/>
            <a:ext cx="19202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4" name="Flow Admin 4"/>
          <p:cNvSpPr txBox="1"/>
          <p:nvPr/>
        </p:nvSpPr>
        <p:spPr>
          <a:xfrm>
            <a:off x="5349240" y="352044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Reports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81928" y="3977640"/>
            <a:ext cx="19202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Flow Admin 5"/>
          <p:cNvSpPr txBox="1"/>
          <p:nvPr/>
        </p:nvSpPr>
        <p:spPr>
          <a:xfrm>
            <a:off x="6492240" y="352044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Moderation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24928" y="3977640"/>
            <a:ext cx="19202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8" name="Flow Admin 6"/>
          <p:cNvSpPr txBox="1"/>
          <p:nvPr/>
        </p:nvSpPr>
        <p:spPr>
          <a:xfrm>
            <a:off x="7635240" y="352044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Leader-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board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3" name="Arch box 1"/>
          <p:cNvSpPr txBox="1"/>
          <p:nvPr/>
        </p:nvSpPr>
        <p:spPr>
          <a:xfrm>
            <a:off x="457200" y="128016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React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Tailwind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947672" y="1714500"/>
            <a:ext cx="18288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5" name="Arch box 2"/>
          <p:cNvSpPr txBox="1"/>
          <p:nvPr/>
        </p:nvSpPr>
        <p:spPr>
          <a:xfrm>
            <a:off x="2148840" y="128016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Axios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39312" y="1714500"/>
            <a:ext cx="18288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7" name="Arch box 3"/>
          <p:cNvSpPr txBox="1"/>
          <p:nvPr/>
        </p:nvSpPr>
        <p:spPr>
          <a:xfrm>
            <a:off x="3840480" y="128016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Express + JWT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 Role Check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30952" y="1714500"/>
            <a:ext cx="18288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Arch box 4"/>
          <p:cNvSpPr txBox="1"/>
          <p:nvPr/>
        </p:nvSpPr>
        <p:spPr>
          <a:xfrm>
            <a:off x="5532120" y="128016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Mongoose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22592" y="1714500"/>
            <a:ext cx="18288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1" name="Arch box 5"/>
          <p:cNvSpPr txBox="1"/>
          <p:nvPr/>
        </p:nvSpPr>
        <p:spPr>
          <a:xfrm>
            <a:off x="7223760" y="128016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MongoDB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Atlas</a:t>
            </a:r>
            <a:endParaRPr lang="en-US" sz="1400" dirty="0"/>
          </a:p>
        </p:txBody>
      </p:sp>
      <p:sp>
        <p:nvSpPr>
          <p:cNvPr id="12" name="Tech card Frontend"/>
          <p:cNvSpPr/>
          <p:nvPr/>
        </p:nvSpPr>
        <p:spPr>
          <a:xfrm>
            <a:off x="457200" y="256032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Frontend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React (Vite), React Router, Tailwind CSS, Axios, Recharts</a:t>
            </a:r>
            <a:endParaRPr lang="en-US" sz="1600" dirty="0"/>
          </a:p>
        </p:txBody>
      </p:sp>
      <p:sp>
        <p:nvSpPr>
          <p:cNvPr id="15" name="Tech card Backend"/>
          <p:cNvSpPr/>
          <p:nvPr/>
        </p:nvSpPr>
        <p:spPr>
          <a:xfrm>
            <a:off x="3291840" y="256032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204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Backend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Node.js, Express.js, JWT, bcrypt, validation and error middleware</a:t>
            </a:r>
            <a:endParaRPr lang="en-US" sz="1600" dirty="0"/>
          </a:p>
        </p:txBody>
      </p:sp>
      <p:sp>
        <p:nvSpPr>
          <p:cNvPr id="18" name="Tech card Deployment"/>
          <p:cNvSpPr/>
          <p:nvPr/>
        </p:nvSpPr>
        <p:spPr>
          <a:xfrm>
            <a:off x="6126480" y="256032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Deployment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Vercel (frontend), Render or Railway (API), MongoDB Atlas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Database Design</a:t>
            </a:r>
            <a:endParaRPr lang="en-US" sz="3000" dirty="0"/>
          </a:p>
        </p:txBody>
      </p:sp>
      <p:sp>
        <p:nvSpPr>
          <p:cNvPr id="3" name="DB card User"/>
          <p:cNvSpPr/>
          <p:nvPr/>
        </p:nvSpPr>
        <p:spPr>
          <a:xfrm>
            <a:off x="457200" y="118872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User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name, email, password, role, skills, github</a:t>
            </a:r>
            <a:endParaRPr lang="en-US" sz="1300" dirty="0"/>
          </a:p>
        </p:txBody>
      </p:sp>
      <p:sp>
        <p:nvSpPr>
          <p:cNvPr id="6" name="DB card Project"/>
          <p:cNvSpPr/>
          <p:nvPr/>
        </p:nvSpPr>
        <p:spPr>
          <a:xfrm>
            <a:off x="3291840" y="118872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353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Project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title, owner, team, technologies, status, progress, likes</a:t>
            </a:r>
            <a:endParaRPr lang="en-US" sz="1300" dirty="0"/>
          </a:p>
        </p:txBody>
      </p:sp>
      <p:sp>
        <p:nvSpPr>
          <p:cNvPr id="9" name="DB card Task"/>
          <p:cNvSpPr/>
          <p:nvPr/>
        </p:nvSpPr>
        <p:spPr>
          <a:xfrm>
            <a:off x="6126480" y="118872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353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Task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project, title, assignedTo, priority, status, dueDate</a:t>
            </a:r>
            <a:endParaRPr lang="en-US" sz="1300" dirty="0"/>
          </a:p>
        </p:txBody>
      </p:sp>
      <p:sp>
        <p:nvSpPr>
          <p:cNvPr id="12" name="DB card Review"/>
          <p:cNvSpPr/>
          <p:nvPr/>
        </p:nvSpPr>
        <p:spPr>
          <a:xfrm>
            <a:off x="457200" y="278892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953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Review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337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project, supervisor, 4 scores, feedback, status</a:t>
            </a:r>
            <a:endParaRPr lang="en-US" sz="1300" dirty="0"/>
          </a:p>
        </p:txBody>
      </p:sp>
      <p:sp>
        <p:nvSpPr>
          <p:cNvPr id="15" name="DB card Notification"/>
          <p:cNvSpPr/>
          <p:nvPr/>
        </p:nvSpPr>
        <p:spPr>
          <a:xfrm>
            <a:off x="3291840" y="278892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20440" y="2953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Notification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3337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user, title, message, type, isRead</a:t>
            </a:r>
            <a:endParaRPr lang="en-US" sz="1300" dirty="0"/>
          </a:p>
        </p:txBody>
      </p:sp>
      <p:sp>
        <p:nvSpPr>
          <p:cNvPr id="18" name="DB card more"/>
          <p:cNvSpPr/>
          <p:nvPr/>
        </p:nvSpPr>
        <p:spPr>
          <a:xfrm>
            <a:off x="6126480" y="278892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2953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Also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3337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comments, bookmarks, reports, categories, technologies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Linked using MongoDB references: a project references its owner, team and supervisor.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Key Features</a:t>
            </a:r>
            <a:endParaRPr lang="en-US" sz="3000" dirty="0"/>
          </a:p>
        </p:txBody>
      </p:sp>
      <p:sp>
        <p:nvSpPr>
          <p:cNvPr id="3" name="Feature card 1"/>
          <p:cNvSpPr/>
          <p:nvPr/>
        </p:nvSpPr>
        <p:spPr>
          <a:xfrm>
            <a:off x="457200" y="118872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Feature badge 1"/>
          <p:cNvSpPr txBox="1"/>
          <p:nvPr/>
        </p:nvSpPr>
        <p:spPr>
          <a:xfrm>
            <a:off x="685800" y="13898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Authentication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JWT, bcrypt and role-based routes</a:t>
            </a:r>
            <a:endParaRPr lang="en-US" sz="1400" dirty="0"/>
          </a:p>
        </p:txBody>
      </p:sp>
      <p:sp>
        <p:nvSpPr>
          <p:cNvPr id="7" name="Feature card 2"/>
          <p:cNvSpPr/>
          <p:nvPr/>
        </p:nvSpPr>
        <p:spPr>
          <a:xfrm>
            <a:off x="3291840" y="118872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Feature badge 2"/>
          <p:cNvSpPr txBox="1"/>
          <p:nvPr/>
        </p:nvSpPr>
        <p:spPr>
          <a:xfrm>
            <a:off x="3520440" y="13898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Project Management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Create, edit, link and showcase projects</a:t>
            </a:r>
            <a:endParaRPr lang="en-US" sz="1400" dirty="0"/>
          </a:p>
        </p:txBody>
      </p:sp>
      <p:sp>
        <p:nvSpPr>
          <p:cNvPr id="11" name="Feature card 3"/>
          <p:cNvSpPr/>
          <p:nvPr/>
        </p:nvSpPr>
        <p:spPr>
          <a:xfrm>
            <a:off x="6126480" y="118872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Feature badge 3"/>
          <p:cNvSpPr txBox="1"/>
          <p:nvPr/>
        </p:nvSpPr>
        <p:spPr>
          <a:xfrm>
            <a:off x="6355080" y="138988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Task Tracking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Priority, status, due date, auto progress</a:t>
            </a:r>
            <a:endParaRPr lang="en-US" sz="1400" dirty="0"/>
          </a:p>
        </p:txBody>
      </p:sp>
      <p:sp>
        <p:nvSpPr>
          <p:cNvPr id="15" name="Feature card 4"/>
          <p:cNvSpPr/>
          <p:nvPr/>
        </p:nvSpPr>
        <p:spPr>
          <a:xfrm>
            <a:off x="45720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Feature badge 4"/>
          <p:cNvSpPr txBox="1"/>
          <p:nvPr/>
        </p:nvSpPr>
        <p:spPr>
          <a:xfrm>
            <a:off x="685800" y="31729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Explore and Community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749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Search, filters, likes, comments, bookmarks</a:t>
            </a:r>
            <a:endParaRPr lang="en-US" sz="1400" dirty="0"/>
          </a:p>
        </p:txBody>
      </p:sp>
      <p:sp>
        <p:nvSpPr>
          <p:cNvPr id="19" name="Feature card 5"/>
          <p:cNvSpPr/>
          <p:nvPr/>
        </p:nvSpPr>
        <p:spPr>
          <a:xfrm>
            <a:off x="329184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0" name="Feature badge 5"/>
          <p:cNvSpPr txBox="1"/>
          <p:nvPr/>
        </p:nvSpPr>
        <p:spPr>
          <a:xfrm>
            <a:off x="3520440" y="31729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Supervisor Review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3749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Scores, feedback, approve or request changes</a:t>
            </a:r>
            <a:endParaRPr lang="en-US" sz="1400" dirty="0"/>
          </a:p>
        </p:txBody>
      </p:sp>
      <p:sp>
        <p:nvSpPr>
          <p:cNvPr id="23" name="Feature card 6"/>
          <p:cNvSpPr/>
          <p:nvPr/>
        </p:nvSpPr>
        <p:spPr>
          <a:xfrm>
            <a:off x="612648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4" name="Feature badge 6"/>
          <p:cNvSpPr txBox="1"/>
          <p:nvPr/>
        </p:nvSpPr>
        <p:spPr>
          <a:xfrm>
            <a:off x="6355080" y="317296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Admin Panel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3749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Users, moderation, reports, analytics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Project Score and Security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4297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ecurity card 1"/>
          <p:cNvSpPr/>
          <p:nvPr/>
        </p:nvSpPr>
        <p:spPr>
          <a:xfrm>
            <a:off x="4937760" y="1188720"/>
            <a:ext cx="37490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166360" y="1298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Backend-only scoring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166360" y="1645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Users can never submit their own score</a:t>
            </a:r>
            <a:endParaRPr lang="en-US" sz="1400" dirty="0"/>
          </a:p>
        </p:txBody>
      </p:sp>
      <p:sp>
        <p:nvSpPr>
          <p:cNvPr id="7" name="Security card 2"/>
          <p:cNvSpPr/>
          <p:nvPr/>
        </p:nvSpPr>
        <p:spPr>
          <a:xfrm>
            <a:off x="4937760" y="2331720"/>
            <a:ext cx="37490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166360" y="2441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bcrypt + JWT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166360" y="2788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Hashed passwords and token-based sessions</a:t>
            </a:r>
            <a:endParaRPr lang="en-US" sz="1400" dirty="0"/>
          </a:p>
        </p:txBody>
      </p:sp>
      <p:sp>
        <p:nvSpPr>
          <p:cNvPr id="10" name="Security card 3"/>
          <p:cNvSpPr/>
          <p:nvPr/>
        </p:nvSpPr>
        <p:spPr>
          <a:xfrm>
            <a:off x="4937760" y="3474720"/>
            <a:ext cx="37490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166360" y="3584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Role middleware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3931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authenticateUser, then checkRole, then controller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Development Plan</a:t>
            </a:r>
            <a:endParaRPr lang="en-US" sz="3000" dirty="0"/>
          </a:p>
        </p:txBody>
      </p:sp>
      <p:sp>
        <p:nvSpPr>
          <p:cNvPr id="3" name="Week card 1"/>
          <p:cNvSpPr/>
          <p:nvPr/>
        </p:nvSpPr>
        <p:spPr>
          <a:xfrm>
            <a:off x="457200" y="1234440"/>
            <a:ext cx="1508760" cy="155448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4" name="Week badge 1"/>
          <p:cNvSpPr txBox="1"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Planning and design</a:t>
            </a:r>
            <a:endParaRPr lang="en-US" sz="1400" dirty="0"/>
          </a:p>
        </p:txBody>
      </p:sp>
      <p:sp>
        <p:nvSpPr>
          <p:cNvPr id="6" name="Week card 2"/>
          <p:cNvSpPr/>
          <p:nvPr/>
        </p:nvSpPr>
        <p:spPr>
          <a:xfrm>
            <a:off x="2103120" y="1234440"/>
            <a:ext cx="1508760" cy="155448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7" name="Week badge 2"/>
          <p:cNvSpPr txBox="1"/>
          <p:nvPr/>
        </p:nvSpPr>
        <p:spPr>
          <a:xfrm>
            <a:off x="224028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920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Frontend UI</a:t>
            </a:r>
            <a:endParaRPr lang="en-US" sz="1400" dirty="0"/>
          </a:p>
        </p:txBody>
      </p:sp>
      <p:sp>
        <p:nvSpPr>
          <p:cNvPr id="9" name="Week card 3"/>
          <p:cNvSpPr/>
          <p:nvPr/>
        </p:nvSpPr>
        <p:spPr>
          <a:xfrm>
            <a:off x="3749040" y="1234440"/>
            <a:ext cx="1508760" cy="155448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0" name="Week badge 3"/>
          <p:cNvSpPr txBox="1"/>
          <p:nvPr/>
        </p:nvSpPr>
        <p:spPr>
          <a:xfrm>
            <a:off x="388620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1920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Backend and auth</a:t>
            </a:r>
            <a:endParaRPr lang="en-US" sz="1400" dirty="0"/>
          </a:p>
        </p:txBody>
      </p:sp>
      <p:sp>
        <p:nvSpPr>
          <p:cNvPr id="12" name="Week card 4"/>
          <p:cNvSpPr/>
          <p:nvPr/>
        </p:nvSpPr>
        <p:spPr>
          <a:xfrm>
            <a:off x="5394960" y="1234440"/>
            <a:ext cx="1508760" cy="155448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3" name="Week badge 4"/>
          <p:cNvSpPr txBox="1"/>
          <p:nvPr/>
        </p:nvSpPr>
        <p:spPr>
          <a:xfrm>
            <a:off x="553212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1920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Profile and project CRUD</a:t>
            </a:r>
            <a:endParaRPr lang="en-US" sz="1400" dirty="0"/>
          </a:p>
        </p:txBody>
      </p:sp>
      <p:sp>
        <p:nvSpPr>
          <p:cNvPr id="15" name="Week card 5"/>
          <p:cNvSpPr/>
          <p:nvPr/>
        </p:nvSpPr>
        <p:spPr>
          <a:xfrm>
            <a:off x="7040880" y="1234440"/>
            <a:ext cx="1508760" cy="155448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6" name="Week badge 5"/>
          <p:cNvSpPr txBox="1"/>
          <p:nvPr/>
        </p:nvSpPr>
        <p:spPr>
          <a:xfrm>
            <a:off x="717804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1920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Tasks and progress</a:t>
            </a:r>
            <a:endParaRPr lang="en-US" sz="1400" dirty="0"/>
          </a:p>
        </p:txBody>
      </p:sp>
      <p:sp>
        <p:nvSpPr>
          <p:cNvPr id="18" name="Week card 6"/>
          <p:cNvSpPr/>
          <p:nvPr/>
        </p:nvSpPr>
        <p:spPr>
          <a:xfrm>
            <a:off x="457200" y="2971800"/>
            <a:ext cx="1508760" cy="155448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9" name="Week badge 6"/>
          <p:cNvSpPr txBox="1"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657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Explore and community</a:t>
            </a:r>
            <a:endParaRPr lang="en-US" sz="1400" dirty="0"/>
          </a:p>
        </p:txBody>
      </p:sp>
      <p:sp>
        <p:nvSpPr>
          <p:cNvPr id="21" name="Week card 7"/>
          <p:cNvSpPr/>
          <p:nvPr/>
        </p:nvSpPr>
        <p:spPr>
          <a:xfrm>
            <a:off x="2103120" y="2971800"/>
            <a:ext cx="1508760" cy="155448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2" name="Week badge 7"/>
          <p:cNvSpPr txBox="1"/>
          <p:nvPr/>
        </p:nvSpPr>
        <p:spPr>
          <a:xfrm>
            <a:off x="2240280" y="3108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240280" y="3657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 review</a:t>
            </a:r>
            <a:endParaRPr lang="en-US" sz="1400" dirty="0"/>
          </a:p>
        </p:txBody>
      </p:sp>
      <p:sp>
        <p:nvSpPr>
          <p:cNvPr id="24" name="Week card 8"/>
          <p:cNvSpPr/>
          <p:nvPr/>
        </p:nvSpPr>
        <p:spPr>
          <a:xfrm>
            <a:off x="3749040" y="2971800"/>
            <a:ext cx="1508760" cy="155448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5" name="Week badge 8"/>
          <p:cNvSpPr txBox="1"/>
          <p:nvPr/>
        </p:nvSpPr>
        <p:spPr>
          <a:xfrm>
            <a:off x="3886200" y="3108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886200" y="3657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Admin and leaderboard</a:t>
            </a:r>
            <a:endParaRPr lang="en-US" sz="1400" dirty="0"/>
          </a:p>
        </p:txBody>
      </p:sp>
      <p:sp>
        <p:nvSpPr>
          <p:cNvPr id="27" name="Week card 9"/>
          <p:cNvSpPr/>
          <p:nvPr/>
        </p:nvSpPr>
        <p:spPr>
          <a:xfrm>
            <a:off x="5394960" y="2971800"/>
            <a:ext cx="1508760" cy="155448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8" name="Week badge 9"/>
          <p:cNvSpPr txBox="1"/>
          <p:nvPr/>
        </p:nvSpPr>
        <p:spPr>
          <a:xfrm>
            <a:off x="5532120" y="3108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3657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Notifications and analytics</a:t>
            </a:r>
            <a:endParaRPr lang="en-US" sz="1400" dirty="0"/>
          </a:p>
        </p:txBody>
      </p:sp>
      <p:sp>
        <p:nvSpPr>
          <p:cNvPr id="30" name="Week card 10"/>
          <p:cNvSpPr/>
          <p:nvPr/>
        </p:nvSpPr>
        <p:spPr>
          <a:xfrm>
            <a:off x="7040880" y="2971800"/>
            <a:ext cx="1508760" cy="155448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/>
        </p:spPr>
      </p:sp>
      <p:sp>
        <p:nvSpPr>
          <p:cNvPr id="31" name="Week badge 10"/>
          <p:cNvSpPr txBox="1"/>
          <p:nvPr/>
        </p:nvSpPr>
        <p:spPr>
          <a:xfrm>
            <a:off x="7178040" y="31089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3657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Testing and deployment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Testing and Deployment</a:t>
            </a:r>
            <a:endParaRPr lang="en-US" sz="3000" dirty="0"/>
          </a:p>
        </p:txBody>
      </p:sp>
      <p:sp>
        <p:nvSpPr>
          <p:cNvPr id="3" name="Test card 1"/>
          <p:cNvSpPr/>
          <p:nvPr/>
        </p:nvSpPr>
        <p:spPr>
          <a:xfrm>
            <a:off x="457200" y="1188720"/>
            <a:ext cx="47548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4" name="Test badge 1"/>
          <p:cNvSpPr txBox="1"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8872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Functional testing of every module</a:t>
            </a:r>
            <a:endParaRPr lang="en-US" sz="1400" dirty="0"/>
          </a:p>
        </p:txBody>
      </p:sp>
      <p:sp>
        <p:nvSpPr>
          <p:cNvPr id="6" name="Test card 2"/>
          <p:cNvSpPr/>
          <p:nvPr/>
        </p:nvSpPr>
        <p:spPr>
          <a:xfrm>
            <a:off x="457200" y="2057400"/>
            <a:ext cx="47548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7" name="Test badge 2"/>
          <p:cNvSpPr txBox="1"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0574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Authorization: student calling admin API is rejected</a:t>
            </a:r>
            <a:endParaRPr lang="en-US" sz="1400" dirty="0"/>
          </a:p>
        </p:txBody>
      </p:sp>
      <p:sp>
        <p:nvSpPr>
          <p:cNvPr id="9" name="Test card 3"/>
          <p:cNvSpPr/>
          <p:nvPr/>
        </p:nvSpPr>
        <p:spPr>
          <a:xfrm>
            <a:off x="457200" y="2926080"/>
            <a:ext cx="47548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0" name="Test badge 3"/>
          <p:cNvSpPr txBox="1"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92608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UI testing on mobile, tablet, desktop</a:t>
            </a:r>
            <a:endParaRPr lang="en-US" sz="1400" dirty="0"/>
          </a:p>
        </p:txBody>
      </p:sp>
      <p:sp>
        <p:nvSpPr>
          <p:cNvPr id="12" name="Test card 4"/>
          <p:cNvSpPr/>
          <p:nvPr/>
        </p:nvSpPr>
        <p:spPr>
          <a:xfrm>
            <a:off x="457200" y="3794760"/>
            <a:ext cx="47548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3" name="Test badge 4"/>
          <p:cNvSpPr txBox="1"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947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Backend cleanup: validation, errors, env variables</a:t>
            </a:r>
            <a:endParaRPr lang="en-US" sz="1400" dirty="0"/>
          </a:p>
        </p:txBody>
      </p:sp>
      <p:sp>
        <p:nvSpPr>
          <p:cNvPr id="15" name="Deploy src 1"/>
          <p:cNvSpPr txBox="1"/>
          <p:nvPr/>
        </p:nvSpPr>
        <p:spPr>
          <a:xfrm>
            <a:off x="5577840" y="1188720"/>
            <a:ext cx="13716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React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95160" y="1623060"/>
            <a:ext cx="32004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Deploy dst 1"/>
          <p:cNvSpPr txBox="1"/>
          <p:nvPr/>
        </p:nvSpPr>
        <p:spPr>
          <a:xfrm>
            <a:off x="7360920" y="1188720"/>
            <a:ext cx="132588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Vercel</a:t>
            </a:r>
            <a:endParaRPr lang="en-US" sz="1400" dirty="0"/>
          </a:p>
        </p:txBody>
      </p:sp>
      <p:sp>
        <p:nvSpPr>
          <p:cNvPr id="18" name="Deploy src 2"/>
          <p:cNvSpPr txBox="1"/>
          <p:nvPr/>
        </p:nvSpPr>
        <p:spPr>
          <a:xfrm>
            <a:off x="5577840" y="2331720"/>
            <a:ext cx="13716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Express API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95160" y="2766060"/>
            <a:ext cx="32004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0" name="Deploy dst 2"/>
          <p:cNvSpPr txBox="1"/>
          <p:nvPr/>
        </p:nvSpPr>
        <p:spPr>
          <a:xfrm>
            <a:off x="7360920" y="2331720"/>
            <a:ext cx="132588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Render 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Railway</a:t>
            </a:r>
            <a:endParaRPr lang="en-US" sz="1400" dirty="0"/>
          </a:p>
        </p:txBody>
      </p:sp>
      <p:sp>
        <p:nvSpPr>
          <p:cNvPr id="21" name="Deploy src 3"/>
          <p:cNvSpPr txBox="1"/>
          <p:nvPr/>
        </p:nvSpPr>
        <p:spPr>
          <a:xfrm>
            <a:off x="5577840" y="3474720"/>
            <a:ext cx="13716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MongoDB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95160" y="3909060"/>
            <a:ext cx="32004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Deploy dst 3"/>
          <p:cNvSpPr txBox="1"/>
          <p:nvPr/>
        </p:nvSpPr>
        <p:spPr>
          <a:xfrm>
            <a:off x="7360920" y="3474720"/>
            <a:ext cx="132588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Atlas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Future Scope and Conclusion</a:t>
            </a:r>
            <a:endParaRPr lang="en-US" sz="3000" dirty="0"/>
          </a:p>
        </p:txBody>
      </p:sp>
      <p:sp>
        <p:nvSpPr>
          <p:cNvPr id="3" name="Future chip 1"/>
          <p:cNvSpPr txBox="1"/>
          <p:nvPr/>
        </p:nvSpPr>
        <p:spPr>
          <a:xfrm>
            <a:off x="457200" y="123444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GitHub integration</a:t>
            </a:r>
            <a:endParaRPr lang="en-US" sz="1400" dirty="0"/>
          </a:p>
        </p:txBody>
      </p:sp>
      <p:sp>
        <p:nvSpPr>
          <p:cNvPr id="4" name="Future chip 2"/>
          <p:cNvSpPr txBox="1"/>
          <p:nvPr/>
        </p:nvSpPr>
        <p:spPr>
          <a:xfrm>
            <a:off x="2560320" y="123444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project assistant</a:t>
            </a:r>
            <a:endParaRPr lang="en-US" sz="1400" dirty="0"/>
          </a:p>
        </p:txBody>
      </p:sp>
      <p:sp>
        <p:nvSpPr>
          <p:cNvPr id="5" name="Future chip 3"/>
          <p:cNvSpPr txBox="1"/>
          <p:nvPr/>
        </p:nvSpPr>
        <p:spPr>
          <a:xfrm>
            <a:off x="4663440" y="123444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Completion certificates</a:t>
            </a:r>
            <a:endParaRPr lang="en-US" sz="1400" dirty="0"/>
          </a:p>
        </p:txBody>
      </p:sp>
      <p:sp>
        <p:nvSpPr>
          <p:cNvPr id="6" name="Future chip 4"/>
          <p:cNvSpPr txBox="1"/>
          <p:nvPr/>
        </p:nvSpPr>
        <p:spPr>
          <a:xfrm>
            <a:off x="6766560" y="123444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Public developer portfolios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ProjectHub brings project creation, task tracking, supervisor review and administration into one organised platform. A controlled scope of three roles keeps it achievable while demonstrating authentication, authorization, database design, analytics and deployment.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Hub">
  <a:themeElements>
    <a:clrScheme name="ProjectHub">
      <a:dk1>
        <a:srgbClr val="222B3A"/>
      </a:dk1>
      <a:lt1>
        <a:srgbClr val="FFFFFF"/>
      </a:lt1>
      <a:dk2>
        <a:srgbClr val="1F2A5A"/>
      </a:dk2>
      <a:lt2>
        <a:srgbClr val="EEF3FA"/>
      </a:lt2>
      <a:accent1>
        <a:srgbClr val="0E9AA7"/>
      </a:accent1>
      <a:accent2>
        <a:srgbClr val="2B3A7A"/>
      </a:accent2>
      <a:accent3>
        <a:srgbClr val="F2A541"/>
      </a:accent3>
      <a:accent4>
        <a:srgbClr val="5B8DEF"/>
      </a:accent4>
      <a:accent5>
        <a:srgbClr val="7A8AAE"/>
      </a:accent5>
      <a:accent6>
        <a:srgbClr val="3DBE8B"/>
      </a:accent6>
      <a:hlink>
        <a:srgbClr val="0E9AA7"/>
      </a:hlink>
      <a:folHlink>
        <a:srgbClr val="7A8AAE"/>
      </a:folHlink>
    </a:clrScheme>
    <a:fontScheme name="ProjectHu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ProjectHub - Project Presentation</dc:title>
  <dc:subject>PptxGenJS Presentation</dc:subject>
  <dc:creator>Prince</dc:creator>
  <cp:lastModifiedBy>Prince</cp:lastModifiedBy>
  <cp:revision>1</cp:revision>
  <dcterms:created xsi:type="dcterms:W3CDTF">2026-10-09T06:32:37Z</dcterms:created>
  <dcterms:modified xsi:type="dcterms:W3CDTF">2026-10-09T06:32:37Z</dcterms:modified>
</cp:coreProperties>
</file>